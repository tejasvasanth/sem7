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645920"/>
            <a:ext cx="164592" cy="3474720"/>
          </a:xfrm>
          <a:prstGeom prst="rect">
            <a:avLst/>
          </a:prstGeom>
          <a:solidFill>
            <a:srgbClr val="007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72CE"/>
                </a:solidFill>
                <a:latin typeface="Calibri"/>
              </a:defRPr>
            </a:pPr>
            <a:r>
              <a:t>CAPSTONE / IPR DISCLOSURE PRESENTATION</a:t>
            </a:r>
          </a:p>
          <a:p>
            <a:pPr>
              <a:defRPr sz="4400" b="1">
                <a:solidFill>
                  <a:srgbClr val="0E2B5C"/>
                </a:solidFill>
                <a:latin typeface="Calibri"/>
              </a:defRPr>
            </a:pPr>
            <a:r>
              <a:t>AIRLOCK</a:t>
            </a:r>
          </a:p>
          <a:p>
            <a:pPr>
              <a:spcBef>
                <a:spcPts val="800"/>
              </a:spcBef>
              <a:defRPr sz="2000">
                <a:solidFill>
                  <a:srgbClr val="212529"/>
                </a:solidFill>
                <a:latin typeface="Calibri"/>
              </a:defRPr>
            </a:pPr>
            <a:r>
              <a:t>Context-Aware Automated Workstation Security &amp;</a:t>
            </a:r>
            <a:br/>
            <a:r>
              <a:t>Autonomous Embedded Robotic Sentry Ecosystem</a:t>
            </a:r>
          </a:p>
          <a:p>
            <a:pPr>
              <a:spcBef>
                <a:spcPts val="1400"/>
              </a:spcBef>
              <a:defRPr sz="1200" b="1">
                <a:solidFill>
                  <a:srgbClr val="6C757D"/>
                </a:solidFill>
                <a:latin typeface="Calibri"/>
              </a:defRPr>
            </a:pPr>
            <a:r>
              <a:t>Multi-Tier Sensor Fusion  |  Adaptive Decision AI  |  Physical-Cyber Perimeter Defense</a:t>
            </a:r>
          </a:p>
          <a:p>
            <a:pPr>
              <a:spcBef>
                <a:spcPts val="2000"/>
              </a:spcBef>
              <a:defRPr sz="1200">
                <a:solidFill>
                  <a:srgbClr val="0E2B5C"/>
                </a:solidFill>
                <a:latin typeface="Calibri"/>
              </a:defRPr>
            </a:pPr>
            <a:r>
              <a:t>Inventors &amp; Team: Akaash V P  |  Tejas Vasanth  |  Anirudh Narendran</a:t>
            </a:r>
            <a:br/>
            <a:r>
              <a:t>School of Computer Science and Engineering, VIT Chennai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72CE"/>
                </a:solidFill>
                <a:latin typeface="Calibri"/>
              </a:defRPr>
            </a:pPr>
            <a:r>
              <a:t>PROBLEM FORMULATION &amp; REAL-WORLD THREAT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E2B5C"/>
                </a:solidFill>
                <a:latin typeface="Calibri"/>
              </a:defRPr>
            </a:pPr>
            <a:r>
              <a:t>The Core Problem: The 15-Minute Vulnerability Gap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291840" cy="45720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457200" lIns="274320" rIns="274320"/>
          <a:lstStyle/>
          <a:p>
            <a:pPr algn="ctr">
              <a:defRPr b="1" sz="1400">
                <a:solidFill>
                  <a:srgbClr val="0E2B5C"/>
                </a:solidFill>
                <a:latin typeface="Calibri"/>
              </a:defRPr>
            </a:pPr>
            <a:r>
              <a:t>1. Static Inactivity Dilemma</a:t>
            </a:r>
          </a:p>
          <a:p>
            <a:pPr>
              <a:defRPr sz="1300">
                <a:solidFill>
                  <a:srgbClr val="212529"/>
                </a:solidFill>
                <a:latin typeface="Calibri"/>
              </a:defRPr>
            </a:pPr>
            <a:r>
              <a:t>• Conventional OS locks rely on fixed idle timers (5 to 15 minutes).</a:t>
            </a:r>
            <a:br/>
            <a:r>
              <a:t>• Users routinely step away without locking (meeting, coffee, printing).</a:t>
            </a:r>
            <a:br/>
            <a:r>
              <a:t>• Attacker needs only 15–30 seconds to inject a malicious USB payload, dump tokens, or compromise confidential files.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463040"/>
            <a:ext cx="3291840" cy="45720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457200" lIns="274320" rIns="274320"/>
          <a:lstStyle/>
          <a:p>
            <a:pPr algn="ctr">
              <a:defRPr b="1" sz="1400">
                <a:solidFill>
                  <a:srgbClr val="0E2B5C"/>
                </a:solidFill>
                <a:latin typeface="Calibri"/>
              </a:defRPr>
            </a:pPr>
            <a:r>
              <a:t>2. The Reading Lockout Trap</a:t>
            </a:r>
          </a:p>
          <a:p>
            <a:pPr>
              <a:defRPr sz="1300">
                <a:solidFill>
                  <a:srgbClr val="212529"/>
                </a:solidFill>
                <a:latin typeface="Calibri"/>
              </a:defRPr>
            </a:pPr>
            <a:r>
              <a:t>• Aggressive 60-second timeouts create unbearable cognitive friction.</a:t>
            </a:r>
            <a:br/>
            <a:r>
              <a:t>• Users reading technical specs or in discussion without touching the keyboard are falsely locked out.</a:t>
            </a:r>
            <a:br/>
            <a:r>
              <a:t>• Existing systems cannot differentiate between passive reading vs absent user.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463040"/>
            <a:ext cx="3383280" cy="45720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953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457200" lIns="274320" rIns="274320"/>
          <a:lstStyle/>
          <a:p>
            <a:pPr algn="ctr">
              <a:defRPr b="1" sz="1400">
                <a:solidFill>
                  <a:srgbClr val="0E2B5C"/>
                </a:solidFill>
                <a:latin typeface="Calibri"/>
              </a:defRPr>
            </a:pPr>
            <a:r>
              <a:t>3. Terminal State Fallacy</a:t>
            </a:r>
          </a:p>
          <a:p>
            <a:pPr>
              <a:defRPr sz="1300">
                <a:solidFill>
                  <a:srgbClr val="212529"/>
                </a:solidFill>
                <a:latin typeface="Calibri"/>
              </a:defRPr>
            </a:pPr>
            <a:r>
              <a:t>• Current security treats screen lock as a terminal state.</a:t>
            </a:r>
            <a:br/>
            <a:r>
              <a:t>• Once locked, the physical desk remains completely unattended and blind.</a:t>
            </a:r>
            <a:br/>
            <a:r>
              <a:t>• No mechanism detects, deters, or warns the owner when an unauthorized person approaches their locked desk.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72CE"/>
                </a:solidFill>
                <a:latin typeface="Calibri"/>
              </a:defRPr>
            </a:pPr>
            <a:r>
              <a:t>INNOVATIVE SOLUTION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E2B5C"/>
                </a:solidFill>
                <a:latin typeface="Calibri"/>
              </a:defRPr>
            </a:pPr>
            <a:r>
              <a:t>The AirLock Ecosystem: Cyber-Physical Synergy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698480" cy="1097280"/>
          </a:xfrm>
          <a:prstGeom prst="roundRect">
            <a:avLst/>
          </a:prstGeom>
          <a:solidFill>
            <a:srgbClr val="EEF5FF"/>
          </a:solidFill>
          <a:ln w="1524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/>
          <a:lstStyle/>
          <a:p>
            <a:pPr algn="ctr">
              <a:defRPr sz="1400" b="1">
                <a:solidFill>
                  <a:srgbClr val="0E2B5C"/>
                </a:solidFill>
              </a:defRPr>
            </a:pPr>
            <a:r>
              <a:t>A zero-trust cyber-physical defense loop connecting your smartphone, laptop OS, an intelligent decision pipeline, and an autonomous robotic desk sentry.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743200"/>
            <a:ext cx="3383280" cy="34747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457200" lIns="228600"/>
          <a:lstStyle/>
          <a:p>
            <a:pPr algn="ctr">
              <a:defRPr b="1" sz="1400">
                <a:solidFill>
                  <a:srgbClr val="0E2B5C"/>
                </a:solidFill>
                <a:latin typeface="Calibri"/>
              </a:defRPr>
            </a:pPr>
            <a:r>
              <a:t>Pillar 1: Multi-Modal Fusion</a:t>
            </a:r>
          </a:p>
          <a:p>
            <a:pPr>
              <a:defRPr sz="1250">
                <a:solidFill>
                  <a:srgbClr val="212529"/>
                </a:solidFill>
              </a:defRPr>
            </a:pPr>
            <a:r>
              <a:t>• Asymmetric BLE Beacon: Phone broadcasts encrypted presence key without draining battery.</a:t>
            </a:r>
            <a:br/>
            <a:r>
              <a:t>• 1Hz OS Interrupt Hooks: Tracks mouse motion deltas and keystrokes.</a:t>
            </a:r>
            <a:br/>
            <a:r>
              <a:t>• Exponential Moving Average (EMA) filters RF multipath noise.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2743200"/>
            <a:ext cx="3383280" cy="34747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457200" lIns="228600"/>
          <a:lstStyle/>
          <a:p>
            <a:pPr algn="ctr">
              <a:defRPr b="1" sz="1400">
                <a:solidFill>
                  <a:srgbClr val="0E2B5C"/>
                </a:solidFill>
                <a:latin typeface="Calibri"/>
              </a:defRPr>
            </a:pPr>
            <a:r>
              <a:t>Pillar 2: Tri-Modal Decision AI</a:t>
            </a:r>
          </a:p>
          <a:p>
            <a:pPr>
              <a:defRPr sz="1250">
                <a:solidFill>
                  <a:srgbClr val="212529"/>
                </a:solidFill>
              </a:defRPr>
            </a:pPr>
            <a:r>
              <a:t>• Rule Engine: Instant microsecond decision for clear states (typing = WAIT).</a:t>
            </a:r>
            <a:br/>
            <a:r>
              <a:t>• Random Forest: Classifies tabular 7-feature context vectors (96.4% accuracy).</a:t>
            </a:r>
            <a:br/>
            <a:r>
              <a:t>• Gemini 1.5 Flash LLM: Resolves ambiguous 40-60% confidence edge cases.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2743200"/>
            <a:ext cx="3383280" cy="34747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007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457200" lIns="228600"/>
          <a:lstStyle/>
          <a:p>
            <a:pPr algn="ctr">
              <a:defRPr b="1" sz="1400">
                <a:solidFill>
                  <a:srgbClr val="0E2B5C"/>
                </a:solidFill>
                <a:latin typeface="Calibri"/>
              </a:defRPr>
            </a:pPr>
            <a:r>
              <a:t>Pillar 3: Active IoT Sentry</a:t>
            </a:r>
          </a:p>
          <a:p>
            <a:pPr>
              <a:defRPr sz="1250">
                <a:solidFill>
                  <a:srgbClr val="212529"/>
                </a:solidFill>
              </a:defRPr>
            </a:pPr>
            <a:r>
              <a:t>• Dual-Mode ESP32 Robot: Dormant during normal work; activates instantly upon OS lock.</a:t>
            </a:r>
            <a:br/>
            <a:r>
              <a:t>• Ultrasonic Perimeter: Detects desk intruders within 50 cm.</a:t>
            </a:r>
            <a:br/>
            <a:r>
              <a:t>• Cloud Verification: Interactive Telegram push asking owner: YES or NO.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72CE"/>
                </a:solidFill>
                <a:latin typeface="Calibri"/>
              </a:defRPr>
            </a:pPr>
            <a:r>
              <a:t>HARDWARE &amp; SOFTWARE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E2B5C"/>
                </a:solidFill>
                <a:latin typeface="Calibri"/>
              </a:defRPr>
            </a:pPr>
            <a:r>
              <a:t>System Architecture: Distributed Data &amp; Control Plane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377440" cy="43891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457200" lIns="182880"/>
          <a:lstStyle/>
          <a:p>
            <a:pPr algn="ctr">
              <a:defRPr b="1" sz="1400">
                <a:solidFill>
                  <a:srgbClr val="0E2B5C"/>
                </a:solidFill>
                <a:latin typeface="Calibri"/>
              </a:defRPr>
            </a:pPr>
            <a:r>
              <a:t>Mobile Key Subsystem</a:t>
            </a:r>
          </a:p>
          <a:p>
            <a:pPr>
              <a:defRPr sz="1200">
                <a:solidFill>
                  <a:srgbClr val="212529"/>
                </a:solidFill>
              </a:defRPr>
            </a:pPr>
            <a:r>
              <a:t>• Flutter Android App</a:t>
            </a:r>
            <a:br/>
            <a:r>
              <a:t>• BLE Peripheral Mode</a:t>
            </a:r>
            <a:br/>
            <a:r>
              <a:t>• Broadcasts 'AKAASH_KEY'</a:t>
            </a:r>
            <a:br/>
            <a:r>
              <a:t>• Interactive verification cards with instant action buttons</a:t>
            </a:r>
            <a:br/>
            <a:r>
              <a:t>• Telegram Bot Client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246120" y="3474720"/>
            <a:ext cx="594360" cy="320040"/>
          </a:xfrm>
          <a:prstGeom prst="rightArrow">
            <a:avLst/>
          </a:prstGeom>
          <a:solidFill>
            <a:srgbClr val="007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977639" y="1645920"/>
            <a:ext cx="3291840" cy="43891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457200" lIns="182880"/>
          <a:lstStyle/>
          <a:p>
            <a:pPr algn="ctr">
              <a:defRPr b="1" sz="1400">
                <a:solidFill>
                  <a:srgbClr val="0E2B5C"/>
                </a:solidFill>
                <a:latin typeface="Calibri"/>
              </a:defRPr>
            </a:pPr>
            <a:r>
              <a:t>Desktop Sense-Decide Agent</a:t>
            </a:r>
          </a:p>
          <a:p>
            <a:pPr>
              <a:defRPr sz="1150">
                <a:solidFill>
                  <a:srgbClr val="212529"/>
                </a:solidFill>
              </a:defRPr>
            </a:pPr>
            <a:r>
              <a:t>• Python Bleak Bridge:</a:t>
            </a:r>
            <a:br/>
            <a:r>
              <a:t>  Filters MAC &amp; computes EMA smoothed RSSI</a:t>
            </a:r>
            <a:br/>
            <a:r>
              <a:t>• Electron + TypeScript Host:</a:t>
            </a:r>
            <a:br/>
            <a:r>
              <a:t>  Samples keyboard/mouse 1Hz</a:t>
            </a:r>
            <a:br/>
            <a:r>
              <a:t>• LockService:</a:t>
            </a:r>
            <a:br/>
            <a:r>
              <a:t>  Executes user32.dll!LockWorkStation</a:t>
            </a:r>
            <a:br/>
            <a:r>
              <a:t>• Local SQLite DB:</a:t>
            </a:r>
            <a:br/>
            <a:r>
              <a:t>  Logs context &amp; telemetry</a:t>
            </a:r>
            <a:br/>
            <a:r>
              <a:t>• Direct Hotspot Trigger:</a:t>
            </a:r>
            <a:br/>
            <a:r>
              <a:t>  Pings bot over mDNS in &lt;20ms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7406640" y="3474720"/>
            <a:ext cx="594360" cy="320040"/>
          </a:xfrm>
          <a:prstGeom prst="rightArrow">
            <a:avLst/>
          </a:prstGeom>
          <a:solidFill>
            <a:srgbClr val="007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138160" y="1645920"/>
            <a:ext cx="3291840" cy="43891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457200" lIns="182880"/>
          <a:lstStyle/>
          <a:p>
            <a:pPr algn="ctr">
              <a:defRPr b="1" sz="1400">
                <a:solidFill>
                  <a:srgbClr val="0E2B5C"/>
                </a:solidFill>
                <a:latin typeface="Calibri"/>
              </a:defRPr>
            </a:pPr>
            <a:r>
              <a:t>Embedded Robotic Sentry</a:t>
            </a:r>
          </a:p>
          <a:p>
            <a:pPr>
              <a:defRPr sz="1150">
                <a:solidFill>
                  <a:srgbClr val="212529"/>
                </a:solidFill>
              </a:defRPr>
            </a:pPr>
            <a:r>
              <a:t>• ESP32 Dual-Core SoC:</a:t>
            </a:r>
            <a:br/>
            <a:r>
              <a:t>  Asynchronous HTTP WebServer</a:t>
            </a:r>
            <a:br/>
            <a:r>
              <a:t>• HC-SR04 Ultrasonic Transducer:</a:t>
            </a:r>
            <a:br/>
            <a:r>
              <a:t>  50 cm proximity monitoring</a:t>
            </a:r>
            <a:br/>
            <a:r>
              <a:t>• 4-State FSM:</a:t>
            </a:r>
            <a:br/>
            <a:r>
              <a:t>  DORMANT -&gt; SCANNING -&gt; AWAITING -&gt; ALARM</a:t>
            </a:r>
            <a:br/>
            <a:r>
              <a:t>• Active Deterrent:</a:t>
            </a:r>
            <a:br/>
            <a:r>
              <a:t>  Piezo buzzer &amp; strobe LEDs</a:t>
            </a:r>
            <a:br/>
            <a:r>
              <a:t>• Telegram Bot API Uplink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72CE"/>
                </a:solidFill>
                <a:latin typeface="Calibri"/>
              </a:defRPr>
            </a:pPr>
            <a:r>
              <a:t>OPERATIONAL STATE TRANSITIONS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E2B5C"/>
                </a:solidFill>
                <a:latin typeface="Calibri"/>
              </a:defRPr>
            </a:pPr>
            <a:r>
              <a:t>End-to-End Execution Flow (Chronological Path)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057400" cy="43891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457200" lIns="137160" rIns="137160"/>
          <a:lstStyle/>
          <a:p>
            <a:pPr algn="ctr">
              <a:defRPr b="1" sz="1400">
                <a:solidFill>
                  <a:srgbClr val="0E2B5C"/>
                </a:solidFill>
                <a:latin typeface="Calibri"/>
              </a:defRPr>
            </a:pPr>
            <a:r>
              <a:t>Step 1: Normal Work</a:t>
            </a:r>
          </a:p>
          <a:p>
            <a:pPr>
              <a:defRPr sz="1150">
                <a:solidFill>
                  <a:srgbClr val="212529"/>
                </a:solidFill>
                <a:latin typeface="Calibri"/>
              </a:defRPr>
            </a:pPr>
            <a:r>
              <a:t>User at desk with phone.</a:t>
            </a:r>
            <a:br/>
            <a:r>
              <a:t>• RSSI: -54 dBm (Strong)</a:t>
            </a:r>
            <a:br/>
            <a:r>
              <a:t>• Keyboard/Mouse active</a:t>
            </a:r>
            <a:br/>
            <a:r>
              <a:t>• Decision: WAIT (Safe)</a:t>
            </a:r>
            <a:br/>
            <a:r>
              <a:t>• Bot: DORMANT (Silent)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1645920"/>
            <a:ext cx="2057400" cy="43891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007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457200" lIns="137160" rIns="137160"/>
          <a:lstStyle/>
          <a:p>
            <a:pPr algn="ctr">
              <a:defRPr b="1" sz="1400">
                <a:solidFill>
                  <a:srgbClr val="0E2B5C"/>
                </a:solidFill>
                <a:latin typeface="Calibri"/>
              </a:defRPr>
            </a:pPr>
            <a:r>
              <a:t>Step 2: User Steps Away</a:t>
            </a:r>
          </a:p>
          <a:p>
            <a:pPr>
              <a:defRPr sz="1150">
                <a:solidFill>
                  <a:srgbClr val="212529"/>
                </a:solidFill>
                <a:latin typeface="Calibri"/>
              </a:defRPr>
            </a:pPr>
            <a:r>
              <a:t>User walks away (&gt;2.5m).</a:t>
            </a:r>
            <a:br/>
            <a:r>
              <a:t>• RSSI drops past -78 dBm</a:t>
            </a:r>
            <a:br/>
            <a:r>
              <a:t>• Inactivity exceeds 3s</a:t>
            </a:r>
            <a:br/>
            <a:r>
              <a:t>• Decision Engine: LOCK (95% Conf)</a:t>
            </a:r>
            <a:br/>
            <a:r>
              <a:t>• Windows locks immediately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20640" y="1645920"/>
            <a:ext cx="2057400" cy="43891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0E2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457200" lIns="137160" rIns="137160"/>
          <a:lstStyle/>
          <a:p>
            <a:pPr algn="ctr">
              <a:defRPr b="1" sz="1400">
                <a:solidFill>
                  <a:srgbClr val="0E2B5C"/>
                </a:solidFill>
                <a:latin typeface="Calibri"/>
              </a:defRPr>
            </a:pPr>
            <a:r>
              <a:t>Step 3: Instant Arming</a:t>
            </a:r>
          </a:p>
          <a:p>
            <a:pPr>
              <a:defRPr sz="1150">
                <a:solidFill>
                  <a:srgbClr val="212529"/>
                </a:solidFill>
                <a:latin typeface="Calibri"/>
              </a:defRPr>
            </a:pPr>
            <a:r>
              <a:t>Sub-20ms Wakeup Signal.</a:t>
            </a:r>
            <a:br/>
            <a:r>
              <a:t>• Direct HTTP ping via hotspot: http://airlock-bot.local/start</a:t>
            </a:r>
            <a:br/>
            <a:r>
              <a:t>• Bot transitions to SCANNING mode</a:t>
            </a:r>
            <a:br/>
            <a:r>
              <a:t>• Ultrasonic sensor fires pulses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1645920"/>
            <a:ext cx="2057400" cy="43891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953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457200" lIns="137160" rIns="137160"/>
          <a:lstStyle/>
          <a:p>
            <a:pPr algn="ctr">
              <a:defRPr b="1" sz="1400">
                <a:solidFill>
                  <a:srgbClr val="0E2B5C"/>
                </a:solidFill>
                <a:latin typeface="Calibri"/>
              </a:defRPr>
            </a:pPr>
            <a:r>
              <a:t>Step 4: Intruder Detected</a:t>
            </a:r>
          </a:p>
          <a:p>
            <a:pPr>
              <a:defRPr sz="1150">
                <a:solidFill>
                  <a:srgbClr val="212529"/>
                </a:solidFill>
                <a:latin typeface="Calibri"/>
              </a:defRPr>
            </a:pPr>
            <a:r>
              <a:t>Unauthorized person &lt; 50cm.</a:t>
            </a:r>
            <a:br/>
            <a:r>
              <a:t>• Bot senses intrusion</a:t>
            </a:r>
            <a:br/>
            <a:r>
              <a:t>• Transitions to AWAITING_REPLY</a:t>
            </a:r>
            <a:br/>
            <a:r>
              <a:t>• Sends urgent Telegram alert with YES/NO action buttons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509760" y="1645920"/>
            <a:ext cx="2057400" cy="43891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0E2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457200" lIns="137160" rIns="137160"/>
          <a:lstStyle/>
          <a:p>
            <a:pPr algn="ctr">
              <a:defRPr b="1" sz="1400">
                <a:solidFill>
                  <a:srgbClr val="0E2B5C"/>
                </a:solidFill>
                <a:latin typeface="Calibri"/>
              </a:defRPr>
            </a:pPr>
            <a:r>
              <a:t>Step 5: Active Deterrent</a:t>
            </a:r>
          </a:p>
          <a:p>
            <a:pPr>
              <a:defRPr sz="1150">
                <a:solidFill>
                  <a:srgbClr val="212529"/>
                </a:solidFill>
                <a:latin typeface="Calibri"/>
              </a:defRPr>
            </a:pPr>
            <a:r>
              <a:t>Resolution or Sound Alarm.</a:t>
            </a:r>
            <a:br/>
            <a:r>
              <a:t>• User taps YES: Bot stands down</a:t>
            </a:r>
            <a:br/>
            <a:r>
              <a:t>• User taps NO or 30s timeout:</a:t>
            </a:r>
            <a:br/>
            <a:r>
              <a:t>  Bot sounds 90dB buzzer + strobe LEDs to deter intruder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72CE"/>
                </a:solidFill>
                <a:latin typeface="Calibri"/>
              </a:defRPr>
            </a:pPr>
            <a:r>
              <a:t>CONTEXT INFERENCE &amp; AMBIGUITY RESOLUTION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E2B5C"/>
                </a:solidFill>
                <a:latin typeface="Calibri"/>
              </a:defRPr>
            </a:pPr>
            <a:r>
              <a:t>The 6-Stage AI Decision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320040" cy="777240"/>
          </a:xfrm>
          <a:prstGeom prst="rect">
            <a:avLst/>
          </a:prstGeom>
          <a:solidFill>
            <a:srgbClr val="007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3000" y="1463040"/>
            <a:ext cx="10287000" cy="777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 lIns="182880"/>
          <a:lstStyle/>
          <a:p>
            <a:pPr algn="ctr">
              <a:defRPr b="1" sz="1200">
                <a:solidFill>
                  <a:srgbClr val="0E2B5C"/>
                </a:solidFill>
              </a:defRPr>
            </a:pPr>
            <a:r>
              <a:t>Stage 1: Deterministic Rule Engine  —  </a:t>
            </a:r>
            <a:r>
              <a:rPr b="0" sz="1100">
                <a:solidFill>
                  <a:srgbClr val="212529"/>
                </a:solidFill>
              </a:rPr>
              <a:t>Microsecond execution of ground truth axioms: If user is actively typing/moving mouse, emit WAIT (90% conf). If idle &gt; 3s AND RSSI &lt; -75 dBm, emit LOCK (95% conf). Degrades gracefully without network.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423160"/>
            <a:ext cx="320040" cy="777240"/>
          </a:xfrm>
          <a:prstGeom prst="rect">
            <a:avLst/>
          </a:prstGeom>
          <a:solidFill>
            <a:srgbClr val="007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43000" y="2423160"/>
            <a:ext cx="10287000" cy="777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 lIns="182880"/>
          <a:lstStyle/>
          <a:p>
            <a:pPr algn="ctr">
              <a:defRPr b="1" sz="1200">
                <a:solidFill>
                  <a:srgbClr val="0E2B5C"/>
                </a:solidFill>
              </a:defRPr>
            </a:pPr>
            <a:r>
              <a:t>Stage 2: Random Forest Classification  —  </a:t>
            </a:r>
            <a:r>
              <a:rPr b="0" sz="1100">
                <a:solidFill>
                  <a:srgbClr val="212529"/>
                </a:solidFill>
              </a:rPr>
              <a:t>7-Feature Vector: [idleTime, rssi, phoneMoving, keyboardActive, mouseActive, battery, charging]. Evaluates complex non-linear behavioral correlations trained on 10,000 synthetic context profiles.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383280"/>
            <a:ext cx="320040" cy="777240"/>
          </a:xfrm>
          <a:prstGeom prst="rect">
            <a:avLst/>
          </a:prstGeom>
          <a:solidFill>
            <a:srgbClr val="007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383280"/>
            <a:ext cx="10287000" cy="777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 lIns="182880"/>
          <a:lstStyle/>
          <a:p>
            <a:pPr algn="ctr">
              <a:defRPr b="1" sz="1200">
                <a:solidFill>
                  <a:srgbClr val="0E2B5C"/>
                </a:solidFill>
              </a:defRPr>
            </a:pPr>
            <a:r>
              <a:t>Stage 3 &amp; 4: Confidence Blending &amp; Gating  —  </a:t>
            </a:r>
            <a:r>
              <a:rPr b="0" sz="1100">
                <a:solidFill>
                  <a:srgbClr val="212529"/>
                </a:solidFill>
              </a:rPr>
              <a:t>Calibrates continuous probability distribution. Scores &gt;= 70% execute immediate LOCK. Scores &lt;= 35% execute WAIT. Uncertain cases routed to Stage 5.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343400"/>
            <a:ext cx="320040" cy="777240"/>
          </a:xfrm>
          <a:prstGeom prst="rect">
            <a:avLst/>
          </a:prstGeom>
          <a:solidFill>
            <a:srgbClr val="D95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43000" y="4343400"/>
            <a:ext cx="10287000" cy="777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 lIns="182880"/>
          <a:lstStyle/>
          <a:p>
            <a:pPr algn="ctr">
              <a:defRPr b="1" sz="1200">
                <a:solidFill>
                  <a:srgbClr val="0E2B5C"/>
                </a:solidFill>
              </a:defRPr>
            </a:pPr>
            <a:r>
              <a:t>Stage 5: Gemini 1.5 Flash LLM Fallback  —  </a:t>
            </a:r>
            <a:r>
              <a:rPr b="0" sz="1100">
                <a:solidFill>
                  <a:srgbClr val="212529"/>
                </a:solidFill>
              </a:rPr>
              <a:t>Ambiguity Band (40% - 60% confidence): Queries Gemini API with prompt: 'Laptop idle {t}s, RSSI {r}, phone moving {m}, mouse inactive {i}. Recent corrections {p}. Should it lock?'. Solves subtle human edge cases in &lt;800ms.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303520"/>
            <a:ext cx="320040" cy="777240"/>
          </a:xfrm>
          <a:prstGeom prst="rect">
            <a:avLst/>
          </a:prstGeom>
          <a:solidFill>
            <a:srgbClr val="007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5303520"/>
            <a:ext cx="10287000" cy="777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 lIns="182880"/>
          <a:lstStyle/>
          <a:p>
            <a:pPr algn="ctr">
              <a:defRPr b="1" sz="1200">
                <a:solidFill>
                  <a:srgbClr val="0E2B5C"/>
                </a:solidFill>
              </a:defRPr>
            </a:pPr>
            <a:r>
              <a:t>Stage 6: Adaptive Profile Personalization  —  </a:t>
            </a:r>
            <a:r>
              <a:rPr b="0" sz="1100">
                <a:solidFill>
                  <a:srgbClr val="212529"/>
                </a:solidFill>
              </a:rPr>
              <a:t>Logs user false-positive overrides and feedback in SQLite to adaptively adjust individual user thresholds over time.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72CE"/>
                </a:solidFill>
                <a:latin typeface="Calibri"/>
              </a:defRPr>
            </a:pPr>
            <a:r>
              <a:t>PHYSICAL DEFENSE SUBSYSTEM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E2B5C"/>
                </a:solidFill>
                <a:latin typeface="Calibri"/>
              </a:defRPr>
            </a:pPr>
            <a:r>
              <a:t>Embedded Robotic Sentry: Hardware &amp; Cloud Verification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457200" lIns="274320"/>
          <a:lstStyle/>
          <a:p>
            <a:pPr algn="ctr">
              <a:defRPr b="1" sz="1400">
                <a:solidFill>
                  <a:srgbClr val="0E2B5C"/>
                </a:solidFill>
                <a:latin typeface="Calibri"/>
              </a:defRPr>
            </a:pPr>
            <a:r>
              <a:t>ESP32 Hardware Circuit &amp; Specifications</a:t>
            </a:r>
          </a:p>
          <a:p>
            <a:pPr>
              <a:defRPr sz="1250">
                <a:solidFill>
                  <a:srgbClr val="212529"/>
                </a:solidFill>
              </a:defRPr>
            </a:pPr>
            <a:r>
              <a:t>• Microcontroller: ESP32 NodeMCU (240MHz Dual-Core, 520KB SRAM)</a:t>
            </a:r>
            <a:br/>
            <a:r>
              <a:t>• Ultrasonic Transducer: HC-SR04</a:t>
            </a:r>
            <a:br/>
            <a:r>
              <a:t>  - Trigger: GPIO 14 (10µs pulses every 150ms)</a:t>
            </a:r>
            <a:br/>
            <a:r>
              <a:t>  - Echo: GPIO 27 (Time-of-flight echo return)</a:t>
            </a:r>
            <a:br/>
            <a:r>
              <a:t>  - Effective Range: 2 cm to 400 cm (50 cm threshold)</a:t>
            </a:r>
            <a:br/>
            <a:r>
              <a:t>• Deterrents: Active Piezoelectric Buzzer (90 dB) &amp; Flashing Warning LED (GPIO 26)</a:t>
            </a:r>
            <a:br/>
            <a:r>
              <a:t>• Networking: Wi-Fi 802.11 b/g/n + mDNS responder ('airlock-bot.local')</a:t>
            </a:r>
            <a:br/>
            <a:r>
              <a:t>• Power: Low quiescent dormant draw (&lt;15mA when sleeping)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457200" lIns="274320"/>
          <a:lstStyle/>
          <a:p>
            <a:pPr algn="ctr">
              <a:defRPr b="1" sz="1400">
                <a:solidFill>
                  <a:srgbClr val="0E2B5C"/>
                </a:solidFill>
                <a:latin typeface="Calibri"/>
              </a:defRPr>
            </a:pPr>
            <a:r>
              <a:t>Dual-Channel Interactive Verification Loop</a:t>
            </a:r>
          </a:p>
          <a:p>
            <a:pPr>
              <a:defRPr sz="1200">
                <a:solidFill>
                  <a:srgbClr val="212529"/>
                </a:solidFill>
              </a:defRPr>
            </a:pPr>
            <a:r>
              <a:t>• Overcoming API Loop Limitation:</a:t>
            </a:r>
            <a:br/>
            <a:r>
              <a:t>  Direct HTTP triggers wake the bot from the laptop in &lt;20ms, bypassing Telegram's restriction on bot-to-bot messages.</a:t>
            </a:r>
            <a:br/>
            <a:br/>
            <a:r>
              <a:t>• User-Facing Telegram Bot Uplink:</a:t>
            </a:r>
            <a:br/>
            <a:r>
              <a:t>  When intruder is detected within 50 cm:</a:t>
            </a:r>
            <a:br/>
            <a:r>
              <a:t>  1. Bot pings Telegram Chat ID directly over SSL.</a:t>
            </a:r>
            <a:br/>
            <a:r>
              <a:t>  2. Phone buzzes with immediate action options:</a:t>
            </a:r>
            <a:br/>
            <a:r>
              <a:t>     [ YES, THAT'S ME ]  -&gt; Stands down to DORMANT</a:t>
            </a:r>
            <a:br/>
            <a:r>
              <a:t>     [ NO, SOUND ALARM! ] -&gt; Activates continuous alarm</a:t>
            </a:r>
            <a:br/>
            <a:r>
              <a:t>  3. 30-Second Fail-Safe: If owner doesn't reply in 30s, automatically triggers alarm to protect unattended desk.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72CE"/>
                </a:solidFill>
                <a:latin typeface="Calibri"/>
              </a:defRPr>
            </a:pPr>
            <a:r>
              <a:t>VALIDATION TESTBED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E2B5C"/>
                </a:solidFill>
                <a:latin typeface="Calibri"/>
              </a:defRPr>
            </a:pPr>
            <a:r>
              <a:t>Experimental Evaluation &amp; Performance Metrics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377440" cy="18288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/>
          <a:lstStyle/>
          <a:p>
            <a:pPr algn="ctr">
              <a:defRPr sz="3200" b="1">
                <a:solidFill>
                  <a:srgbClr val="0E2B5C"/>
                </a:solidFill>
              </a:defRPr>
            </a:pPr>
            <a:r>
              <a:t>2.4 sec</a:t>
            </a:r>
          </a:p>
          <a:p>
            <a:pPr>
              <a:defRPr sz="1100">
                <a:solidFill>
                  <a:srgbClr val="212529"/>
                </a:solidFill>
              </a:defRPr>
            </a:pPr>
            <a:r>
              <a:t>Average Lock Latency</a:t>
            </a:r>
            <a:br/>
            <a:r>
              <a:t>(vs 600s OS static timer)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0" y="1645920"/>
            <a:ext cx="2377440" cy="18288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/>
          <a:lstStyle/>
          <a:p>
            <a:pPr algn="ctr">
              <a:defRPr sz="3200" b="1">
                <a:solidFill>
                  <a:srgbClr val="28A745"/>
                </a:solidFill>
              </a:defRPr>
            </a:pPr>
            <a:r>
              <a:t>96.4%</a:t>
            </a:r>
          </a:p>
          <a:p>
            <a:pPr>
              <a:defRPr sz="1100">
                <a:solidFill>
                  <a:srgbClr val="212529"/>
                </a:solidFill>
              </a:defRPr>
            </a:pPr>
            <a:r>
              <a:t>Model Decision Accuracy</a:t>
            </a:r>
            <a:br/>
            <a:r>
              <a:t>(Random Forest Classifier)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2377440" cy="18288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/>
          <a:lstStyle/>
          <a:p>
            <a:pPr algn="ctr">
              <a:defRPr sz="3200" b="1">
                <a:solidFill>
                  <a:srgbClr val="0072CE"/>
                </a:solidFill>
              </a:defRPr>
            </a:pPr>
            <a:r>
              <a:t>0.0%</a:t>
            </a:r>
          </a:p>
          <a:p>
            <a:pPr>
              <a:defRPr sz="1100">
                <a:solidFill>
                  <a:srgbClr val="212529"/>
                </a:solidFill>
              </a:defRPr>
            </a:pPr>
            <a:r>
              <a:t>False Lockout Rate</a:t>
            </a:r>
            <a:br/>
            <a:r>
              <a:t>During Active Reading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0" y="1645920"/>
            <a:ext cx="2468880" cy="18288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/>
          <a:lstStyle/>
          <a:p>
            <a:pPr algn="ctr">
              <a:defRPr sz="3200" b="1">
                <a:solidFill>
                  <a:srgbClr val="D9534F"/>
                </a:solidFill>
              </a:defRPr>
            </a:pPr>
            <a:r>
              <a:t>&lt; 20 ms</a:t>
            </a:r>
          </a:p>
          <a:p>
            <a:pPr>
              <a:defRPr sz="1100">
                <a:solidFill>
                  <a:srgbClr val="212529"/>
                </a:solidFill>
              </a:defRPr>
            </a:pPr>
            <a:r>
              <a:t>Robot Arming Latency</a:t>
            </a:r>
            <a:br/>
            <a:r>
              <a:t>(Via Direct Hotspot HTTP)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749039"/>
            <a:ext cx="10698480" cy="23774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0" lIns="274320"/>
          <a:lstStyle/>
          <a:p>
            <a:pPr algn="ctr">
              <a:defRPr b="1" sz="1400">
                <a:solidFill>
                  <a:srgbClr val="0E2B5C"/>
                </a:solidFill>
                <a:latin typeface="Calibri"/>
              </a:defRPr>
            </a:pPr>
            <a:r>
              <a:t>Empirical Testing Scenarios (200 Test Trials)</a:t>
            </a:r>
          </a:p>
          <a:p>
            <a:pPr>
              <a:defRPr sz="1200">
                <a:solidFill>
                  <a:srgbClr val="212529"/>
                </a:solidFill>
              </a:defRPr>
            </a:pPr>
            <a:r>
              <a:t>• Active Typing (Phone at desk): 50/50 correct (100% precision) — zero false lockouts.</a:t>
            </a:r>
            <a:br/>
            <a:r>
              <a:t>• Passive Screen Reading (Zero mouse/keyboard input for 60s): 49/50 correct (98% precision) — holding beacon presence suppresses accidental lockout.</a:t>
            </a:r>
            <a:br/>
            <a:r>
              <a:t>• Normal Departure (User walks into hallway): 50/50 locked within 2.4s average.</a:t>
            </a:r>
            <a:br/>
            <a:r>
              <a:t>• Multipath RF Barrier Test (Walking behind concrete pillar): Signal decayed smoothly via EMA filter without false triggers.</a:t>
            </a:r>
            <a:br/>
            <a:r>
              <a:t>• Sentry Detection: 100% of physical desk intrusions within 50 cm prompted phone notification in &lt; 1.2s.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72CE"/>
                </a:solidFill>
                <a:latin typeface="Calibri"/>
              </a:defRPr>
            </a:pPr>
            <a:r>
              <a:t>IPR &amp; PATENT DISCLOSURE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E2B5C"/>
                </a:solidFill>
                <a:latin typeface="Calibri"/>
              </a:defRPr>
            </a:pPr>
            <a:r>
              <a:t>Patent Novelty &amp; Technical Differentiation (&lt; 35% Overlap)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6984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2560320"/>
                <a:gridCol w="2560320"/>
                <a:gridCol w="3108960"/>
              </a:tblGrid>
              <a:tr h="877824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0E2B5C"/>
                          </a:solidFill>
                        </a:defRPr>
                      </a:pPr>
                      <a:r>
                        <a:t>Technology Dimension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0E2B5C"/>
                          </a:solidFill>
                        </a:defRPr>
                      </a:pPr>
                      <a:r>
                        <a:t>Windows Dynamic Lock (US9781140B2)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0E2B5C"/>
                          </a:solidFill>
                        </a:defRPr>
                      </a:pPr>
                      <a:r>
                        <a:t>Camera Gaze Systems (US10860714B2)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AirLock (Present Invention)</a:t>
                      </a:r>
                    </a:p>
                  </a:txBody>
                  <a:tcPr>
                    <a:solidFill>
                      <a:srgbClr val="0E2B5C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212529"/>
                          </a:solidFill>
                        </a:defRPr>
                      </a:pPr>
                      <a:r>
                        <a:t>Decision Mechanism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212529"/>
                          </a:solidFill>
                        </a:defRPr>
                      </a:pPr>
                      <a:r>
                        <a:t>Crude single RSSI threshold (binary disconnect)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212529"/>
                          </a:solidFill>
                        </a:defRPr>
                      </a:pPr>
                      <a:r>
                        <a:t>Optical webcam eye gaze &amp; facial presence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E2B5C"/>
                          </a:solidFill>
                        </a:defRPr>
                      </a:pPr>
                      <a:r>
                        <a:t>Tri-Modal Gating: Rule + Random Forest + Gemini LLM fallback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212529"/>
                          </a:solidFill>
                        </a:defRPr>
                      </a:pPr>
                      <a:r>
                        <a:t>Lock Latency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212529"/>
                          </a:solidFill>
                        </a:defRPr>
                      </a:pPr>
                      <a:r>
                        <a:t>60 – 120 seconds (Extreme vulnerability gap)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212529"/>
                          </a:solidFill>
                        </a:defRPr>
                      </a:pPr>
                      <a:r>
                        <a:t>5 – 10 seconds (High CPU / GPU power drain)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E2B5C"/>
                          </a:solidFill>
                        </a:defRPr>
                      </a:pPr>
                      <a:r>
                        <a:t>2.4 seconds average (Lightweight async event hooks)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212529"/>
                          </a:solidFill>
                        </a:defRPr>
                      </a:pPr>
                      <a:r>
                        <a:t>False Lockout Immunity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212529"/>
                          </a:solidFill>
                        </a:defRPr>
                      </a:pPr>
                      <a:r>
                        <a:t>Poor (Locks if phone moves slightly or RF fluctuates)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212529"/>
                          </a:solidFill>
                        </a:defRPr>
                      </a:pPr>
                      <a:r>
                        <a:t>Poor (Fails in dark rooms or when user turns head)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E2B5C"/>
                          </a:solidFill>
                        </a:defRPr>
                      </a:pPr>
                      <a:r>
                        <a:t>Excellent (User peripheral interrupt override + EMA filter)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212529"/>
                          </a:solidFill>
                        </a:defRPr>
                      </a:pPr>
                      <a:r>
                        <a:t>Post-Lock Physical Defense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212529"/>
                          </a:solidFill>
                        </a:defRPr>
                      </a:pPr>
                      <a:r>
                        <a:t>None (Screen locks, desk left completely blind)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212529"/>
                          </a:solidFill>
                        </a:defRPr>
                      </a:pPr>
                      <a:r>
                        <a:t>None (Camera goes dormant or locks OS only)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E2B5C"/>
                          </a:solidFill>
                        </a:defRPr>
                      </a:pPr>
                      <a:r>
                        <a:t>Active Autonomous IoT Sentry (Ultrasonic + Telegram Alert)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72CE"/>
                </a:solidFill>
                <a:latin typeface="Calibri"/>
              </a:defRPr>
            </a:pPr>
            <a:r>
              <a:t>INDUSTRIAL VALUE &amp; ENTERPRISE SCALING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E2B5C"/>
                </a:solidFill>
                <a:latin typeface="Calibri"/>
              </a:defRPr>
            </a:pPr>
            <a:r>
              <a:t>Market Potential &amp; Commercial Applicability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457200" lIns="274320"/>
          <a:lstStyle/>
          <a:p>
            <a:pPr algn="ctr">
              <a:defRPr b="1" sz="1400">
                <a:solidFill>
                  <a:srgbClr val="0E2B5C"/>
                </a:solidFill>
                <a:latin typeface="Calibri"/>
              </a:defRPr>
            </a:pPr>
            <a:r>
              <a:t>Market Sizing &amp; Growth Drivers</a:t>
            </a:r>
          </a:p>
          <a:p>
            <a:pPr>
              <a:defRPr sz="1200">
                <a:solidFill>
                  <a:srgbClr val="212529"/>
                </a:solidFill>
              </a:defRPr>
            </a:pPr>
            <a:r>
              <a:t>• Rapid Market Expansion:</a:t>
            </a:r>
            <a:br/>
            <a:r>
              <a:t>  - 2024 Market Size: $2.8 Billion</a:t>
            </a:r>
            <a:br/>
            <a:r>
              <a:t>  - 2030 Projected Size: $6.4 Billion</a:t>
            </a:r>
            <a:br/>
            <a:r>
              <a:t>  - High Compound Growth Rate: 14.8% CAGR</a:t>
            </a:r>
            <a:br/>
            <a:br/>
            <a:r>
              <a:t>• Key Industry Drivers:</a:t>
            </a:r>
            <a:br/>
            <a:r>
              <a:t>  - Clean-Desk Compliance: Mandatory regulations (ISO 27001, HIPAA, GDPR) with heavy fines for unattended open screens.</a:t>
            </a:r>
            <a:br/>
            <a:r>
              <a:t>  - Hybrid Work &amp; Hot-Desking: Shared co-working desks elevate physical compromise risks.</a:t>
            </a:r>
            <a:br/>
            <a:r>
              <a:t>  - Physical Bad-Faith Attacks: Hardware USB Rubber Ducky and keystroke injection attacks require rapid physical counter-measures.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457200" lIns="274320"/>
          <a:lstStyle/>
          <a:p>
            <a:pPr algn="ctr">
              <a:defRPr b="1" sz="1400">
                <a:solidFill>
                  <a:srgbClr val="0E2B5C"/>
                </a:solidFill>
                <a:latin typeface="Calibri"/>
              </a:defRPr>
            </a:pPr>
            <a:r>
              <a:t>Commercial Adoption &amp; Enterprise Deployment</a:t>
            </a:r>
          </a:p>
          <a:p>
            <a:pPr>
              <a:defRPr sz="1200">
                <a:solidFill>
                  <a:srgbClr val="212529"/>
                </a:solidFill>
              </a:defRPr>
            </a:pPr>
            <a:r>
              <a:t>• Target Licensing Companies:</a:t>
            </a:r>
            <a:br/>
            <a:r>
              <a:t>  - Microsoft: Direct OS upgrade to Windows Dynamic Lock</a:t>
            </a:r>
            <a:br/>
            <a:r>
              <a:t>  - Dell, HP, Lenovo: Pre-installed hardware security suite on commercial enterprise laptops</a:t>
            </a:r>
            <a:br/>
            <a:r>
              <a:t>  - Cisco: Integrated zero-trust endpoint physical defense</a:t>
            </a:r>
            <a:br/>
            <a:br/>
            <a:r>
              <a:t>• Substantial Cost Advantage:</a:t>
            </a:r>
            <a:br/>
            <a:r>
              <a:t>  - Traditional Enterprise Badges: $80 – $150 per seat</a:t>
            </a:r>
            <a:br/>
            <a:r>
              <a:t>  - AirLock Architecture: Zero proprietary badge cost (uses existing smartphones + $5 IoT ESP32 sentry node)</a:t>
            </a:r>
            <a:br/>
            <a:r>
              <a:t>  - Delivers a 90% reduction in endpoint hardware security costs.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72CE"/>
                </a:solidFill>
                <a:latin typeface="Calibri"/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E2B5C"/>
                </a:solidFill>
                <a:latin typeface="Calibri"/>
              </a:defRPr>
            </a:pPr>
            <a:r>
              <a:t>Summary of Contributions &amp; Live Demonstration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6217920" cy="43891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0" lIns="274320"/>
          <a:lstStyle/>
          <a:p>
            <a:pPr algn="ctr">
              <a:defRPr b="1" sz="1400">
                <a:solidFill>
                  <a:srgbClr val="0E2B5C"/>
                </a:solidFill>
                <a:latin typeface="Calibri"/>
              </a:defRPr>
            </a:pPr>
            <a:r>
              <a:t>Key Engineering Milestones Achieved</a:t>
            </a:r>
          </a:p>
          <a:p>
            <a:pPr>
              <a:defRPr sz="1250">
                <a:solidFill>
                  <a:srgbClr val="212529"/>
                </a:solidFill>
              </a:defRPr>
            </a:pPr>
            <a:r>
              <a:t>1. Proven Cyber-Physical Bridge: Demonstrated sub-2.5s workstation lockdown coupled with instant &lt;20ms robotic physical sentry arming.</a:t>
            </a:r>
            <a:br/>
            <a:br/>
            <a:r>
              <a:t>2. Robust Human-Context Sensing: Solved RF jitter and passive reading false-lockouts through EMA filtering and tri-modal ML/LLM confidence gating.</a:t>
            </a:r>
            <a:br/>
            <a:br/>
            <a:r>
              <a:t>3. Cloud-Interactive Threat Mitigation: Built a dual-channel verification loop enabling real-time remote desk verification and deterrence via Telegram and Flutter.</a:t>
            </a:r>
            <a:br/>
            <a:br/>
            <a:r>
              <a:t>4. Ready for Commercialization: TRL 4/5 working prototype with low hardware footprint and strong patentability profile.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0" y="1645920"/>
            <a:ext cx="4114800" cy="43891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007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0" lIns="228600"/>
          <a:lstStyle/>
          <a:p>
            <a:pPr algn="ctr">
              <a:defRPr b="1" sz="1400">
                <a:solidFill>
                  <a:srgbClr val="0E2B5C"/>
                </a:solidFill>
                <a:latin typeface="Calibri"/>
              </a:defRPr>
            </a:pPr>
            <a:r>
              <a:t>Live Demonstration Overview</a:t>
            </a:r>
          </a:p>
          <a:p>
            <a:pPr>
              <a:defRPr sz="1150">
                <a:solidFill>
                  <a:srgbClr val="0E2B5C"/>
                </a:solidFill>
              </a:defRPr>
            </a:pPr>
            <a:r>
              <a:t>Demo Sequence for Evaluation:</a:t>
            </a:r>
            <a:br/>
            <a:br/>
            <a:r>
              <a:t>1. At Desk: Phone nearby -&gt; System active -&gt; Bot DORMANT.</a:t>
            </a:r>
            <a:br/>
            <a:br/>
            <a:r>
              <a:t>2. Walk Away: Signal drops -&gt; Laptop locks -&gt; Bot wakes up to SCANNING.</a:t>
            </a:r>
            <a:br/>
            <a:br/>
            <a:r>
              <a:t>3. Intruder Approaches: Hand &lt; 50cm -&gt; Bot detects intrusion.</a:t>
            </a:r>
            <a:br/>
            <a:br/>
            <a:r>
              <a:t>4. Telegram Push: Phone receives alert -&gt; Tap YES (Stand down) or NO (Sound Alarm).</a:t>
            </a:r>
            <a:br/>
            <a:br/>
            <a:r>
              <a:t>Repository: github.com/tejasvasanth/sem7 (Branch: tejas)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